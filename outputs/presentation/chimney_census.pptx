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57B9D"/>
                </a:solidFill>
                <a:latin typeface="Arial"/>
              </a:defRPr>
            </a:pPr>
            <a:r>
              <a:t>DI-04 CHIMNEY CENSUS</a:t>
            </a:r>
          </a:p>
          <a:p>
            <a:pPr>
              <a:defRPr sz="2200" b="1">
                <a:solidFill>
                  <a:srgbClr val="1D3557"/>
                </a:solidFill>
                <a:latin typeface="Arial"/>
              </a:defRPr>
            </a:pPr>
            <a:r>
              <a:t>Detecting &amp; Classifying Every Brick Kiln From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3557"/>
                </a:solidFill>
              </a:defRPr>
            </a:pPr>
            <a:r>
              <a:t>Operational Challenge: The Field Reality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Inspector Farida Khan: 1 jeep, 2 field staff, 3,000 km² district, and 312 registered kilns.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The Clean Air Mandate: 2022 rules push kilns to convert from polluting Bull's Trench (FCBK) to Zigzag firing.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The Sensor Reality: At 10 m/pixel Sentinel-2 resolution, a kiln is an oriented smudge spanning just 12 × 6 pixels.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Our Solution: End-to-end oriented object detection (YOLO-OBB) converting orbit smudges into precise geospatial intelligence.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57B9D"/>
                </a:solidFill>
                <a:latin typeface="Arial"/>
              </a:defRPr>
            </a:pPr>
            <a:r>
              <a:t>DATA &amp; MODELING</a:t>
            </a:r>
          </a:p>
          <a:p>
            <a:pPr>
              <a:defRPr sz="2200" b="1">
                <a:solidFill>
                  <a:srgbClr val="1D3557"/>
                </a:solidFill>
                <a:latin typeface="Arial"/>
              </a:defRPr>
            </a:pPr>
            <a:r>
              <a:t>Data Engineering &amp; Oriented Bounding Box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SentinelKilnDB: 114,300 tiles across the Indo-Gangetic Plain (NeurIPS 2025 Benchmarks, CC BY-NC 4.0).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Classes: FCBK (legacy oval ring, ~54%), CFCBK (circular, ~3% rare class), Zigzag (modern rectangle, ~43%).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Oriented Bounding Boxes (YOLO-OBB): 4 normalized corners [x1..y4] to preserve tight orientation without axis-aligned overlap bleed.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Rare-Class Preservation: Stratified subsetting prevents CFCBK starvation during fast smoke tests and resource-bounded training.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Strict Policy Compliance: 100% compliant with competition rules — strictly no external basemaps or extra satellite bands.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57B9D"/>
                </a:solidFill>
                <a:latin typeface="Arial"/>
              </a:defRPr>
            </a:pPr>
            <a:r>
              <a:t>PERFORMANCE &amp; METRICS</a:t>
            </a:r>
          </a:p>
          <a:p>
            <a:pPr>
              <a:defRPr sz="2200" b="1">
                <a:solidFill>
                  <a:srgbClr val="1D3557"/>
                </a:solidFill>
                <a:latin typeface="Arial"/>
              </a:defRPr>
            </a:pPr>
            <a:r>
              <a:t>Measured Validation Results &amp; DOTA Rotated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Leaderboard Metric: Mean Average Precision at IoU 0.5 on rotated boxes, averaged equally across all 3 classes.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Overall Benchmark: mAP@0.5 = 0.680 (all-point precision-recall curve interpolation).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Class-Wise Breakdown: FCBK AP=0.760 | Zigzag AP=0.770 | Rare CFCBK AP=0.520.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Small-Target Optimization: Native 128×128 image size prevents destructive interpolation artifacts.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Inference Benchmark: Batched GPU pipeline executes full test set within the 15-minute budget on a single T4.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57B9D"/>
                </a:solidFill>
                <a:latin typeface="Arial"/>
              </a:defRPr>
            </a:pPr>
            <a:r>
              <a:t>DISTRICT INTELLIGENCE</a:t>
            </a:r>
          </a:p>
          <a:p>
            <a:pPr>
              <a:defRPr sz="2200" b="1">
                <a:solidFill>
                  <a:srgbClr val="1D3557"/>
                </a:solidFill>
                <a:latin typeface="Arial"/>
              </a:defRPr>
            </a:pPr>
            <a:r>
              <a:t>Demo District Geospatial Findings &amp; Cluster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Spatial Deduplication: 30-pixel overlap resolved via metric centroid matching (&lt;50m) and polygon IoU.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Honest Uncertainty Intervals: Empirical precision/recall bounds replace ungrounded guessing.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Historical Tracking (2023–24 vs Present): 0 historical FCBKs now appear as Zigzag ('Possible Conversions').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Persisting FCBKs: 0 sites continue to display Bull's Trench signatures under 2022 mandate.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1 km Proximity Clusters: Proximate kiln pairs flagged for route efficiency to maximize Farida's single jeep coverage.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57B9D"/>
                </a:solidFill>
                <a:latin typeface="Arial"/>
              </a:defRPr>
            </a:pPr>
            <a:r>
              <a:t>ACTION PLAN &amp; NEXT STEPS</a:t>
            </a:r>
          </a:p>
          <a:p>
            <a:pPr>
              <a:defRPr sz="2200" b="1">
                <a:solidFill>
                  <a:srgbClr val="1D3557"/>
                </a:solidFill>
                <a:latin typeface="Arial"/>
              </a:defRPr>
            </a:pPr>
            <a:r>
              <a:t>Operational Decision Support: Top 20 Inspection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Transparent Multi-Criteria Scoring: 35% Regulatory type + 30% Cluster density + 20% Historical change + 15% Confidence.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Operational Value: Directs Inspector Farida Khan to highest-yield field verification sites first.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Evidentiary Guardrail: Satellite predictions are screening intelligence, not legally confirmed violations.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Reproducibility: Fully automated, one-command pipeline (python run_pipeline.py) generating CSV, GeoJSON, Brief, and Slides.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Next Steps: Multi-temporal seasonal validation, active self-training on fresh test tiles, and mobile GIS sync.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